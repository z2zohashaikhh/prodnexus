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2BF29-1A61-474B-A7B9-8B8E4ADC3CAC}" v="2" dt="2026-08-23T09:58:43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Mulani" userId="c77885fb8cdb468f" providerId="LiveId" clId="{5137C0E1-9848-4358-8C66-322519D84F8E}"/>
    <pc:docChg chg="modSld">
      <pc:chgData name="Muskan Mulani" userId="c77885fb8cdb468f" providerId="LiveId" clId="{5137C0E1-9848-4358-8C66-322519D84F8E}" dt="2026-08-23T09:58:54.180" v="177" actId="1076"/>
      <pc:docMkLst>
        <pc:docMk/>
      </pc:docMkLst>
      <pc:sldChg chg="modSp mod">
        <pc:chgData name="Muskan Mulani" userId="c77885fb8cdb468f" providerId="LiveId" clId="{5137C0E1-9848-4358-8C66-322519D84F8E}" dt="2026-08-23T09:34:59.467" v="54" actId="20577"/>
        <pc:sldMkLst>
          <pc:docMk/>
          <pc:sldMk cId="0" sldId="256"/>
        </pc:sldMkLst>
        <pc:spChg chg="mod">
          <ac:chgData name="Muskan Mulani" userId="c77885fb8cdb468f" providerId="LiveId" clId="{5137C0E1-9848-4358-8C66-322519D84F8E}" dt="2026-08-23T09:34:59.467" v="54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Muskan Mulani" userId="c77885fb8cdb468f" providerId="LiveId" clId="{5137C0E1-9848-4358-8C66-322519D84F8E}" dt="2026-08-23T09:58:54.180" v="177" actId="1076"/>
        <pc:sldMkLst>
          <pc:docMk/>
          <pc:sldMk cId="0" sldId="266"/>
        </pc:sldMkLst>
        <pc:spChg chg="mod">
          <ac:chgData name="Muskan Mulani" userId="c77885fb8cdb468f" providerId="LiveId" clId="{5137C0E1-9848-4358-8C66-322519D84F8E}" dt="2026-08-23T09:58:54.180" v="177" actId="1076"/>
          <ac:spMkLst>
            <pc:docMk/>
            <pc:sldMk cId="0" sldId="26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FF4A"/>
                </a:solidFill>
              </a:defRPr>
            </a:pPr>
            <a:r>
              <a:rPr dirty="0"/>
              <a:t>UNIHACK 2026 PROTOTYPE SUBMISSION</a:t>
            </a:r>
          </a:p>
          <a:p>
            <a:pPr>
              <a:spcBef>
                <a:spcPts val="600"/>
              </a:spcBef>
              <a:defRPr sz="4400" b="1">
                <a:solidFill>
                  <a:srgbClr val="F8FAFC"/>
                </a:solidFill>
              </a:defRPr>
            </a:pPr>
            <a:r>
              <a:rPr dirty="0" err="1"/>
              <a:t>ProdNexus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</a:defRPr>
            </a:pPr>
            <a:r>
              <a:rPr dirty="0"/>
              <a:t>Autonomous Industrial Product Intelligence &amp; Decision-Support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B8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4279392"/>
            <a:ext cx="4718304" cy="1187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rPr dirty="0"/>
              <a:t>TEAM DETAILS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Team Name: </a:t>
            </a:r>
            <a:r>
              <a:rPr b="0" dirty="0">
                <a:solidFill>
                  <a:srgbClr val="94A3B8"/>
                </a:solidFill>
              </a:rPr>
              <a:t>Team Catalyst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Team Leader: </a:t>
            </a:r>
            <a:r>
              <a:rPr b="0" dirty="0">
                <a:solidFill>
                  <a:srgbClr val="94A3B8"/>
                </a:solidFill>
              </a:rPr>
              <a:t>Muskan Mulani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Track: </a:t>
            </a:r>
            <a:r>
              <a:rPr b="0" dirty="0">
                <a:solidFill>
                  <a:srgbClr val="94A3B8"/>
                </a:solidFill>
              </a:rPr>
              <a:t>AI-Powered Product Intelligence for Industrial Commerce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Target Users: </a:t>
            </a:r>
            <a:r>
              <a:rPr b="0" dirty="0">
                <a:solidFill>
                  <a:srgbClr val="94A3B8"/>
                </a:solidFill>
              </a:rPr>
              <a:t>Procurement Engineers, Catalog Managers, Industrial Buyers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4279392"/>
            <a:ext cx="480974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CORE TECHNICAL HIGHLIGHTS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Sub-3s Inference: </a:t>
            </a:r>
            <a:r>
              <a:rPr b="0">
                <a:solidFill>
                  <a:srgbClr val="94A3B8"/>
                </a:solidFill>
              </a:rPr>
              <a:t>Deterministic latency via Gemini 2.5 Flash + pruned payloads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AI Decision Score: </a:t>
            </a:r>
            <a:r>
              <a:rPr b="0">
                <a:solidFill>
                  <a:srgbClr val="94A3B8"/>
                </a:solidFill>
              </a:rPr>
              <a:t>Automated 0–100 index calculating fit %, spec advantage &amp; supply risk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Enterprise Ingestion: </a:t>
            </a:r>
            <a:r>
              <a:rPr b="0">
                <a:solidFill>
                  <a:srgbClr val="94A3B8"/>
                </a:solidFill>
              </a:rPr>
              <a:t>Handles both single SKU deep-dives and 50+ row CSV batch queues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Interactive Explainer: </a:t>
            </a:r>
            <a:r>
              <a:rPr b="0">
                <a:solidFill>
                  <a:srgbClr val="94A3B8"/>
                </a:solidFill>
              </a:rPr>
              <a:t>Context-grounded slide-over chat drawer for real-time auditability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01 / EXECUTIVE CONTEXT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Problem Definition &amp; 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THE INDUSTRIAL COMMERCE BOTTLENECK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Fragmented Catalog Data: </a:t>
            </a:r>
            <a:r>
              <a:rPr b="0">
                <a:solidFill>
                  <a:srgbClr val="94A3B8"/>
                </a:solidFill>
              </a:rPr>
              <a:t>Industrial SKUs often arrive with only an MPN and a 4-word snippet, missing standard voltage, mounting, or IP ratings.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Manual Datasheet Cross-Referencing: </a:t>
            </a:r>
            <a:r>
              <a:rPr b="0">
                <a:solidFill>
                  <a:srgbClr val="94A3B8"/>
                </a:solidFill>
              </a:rPr>
              <a:t>Engineers spend 15–30 minutes per SKU verifying OEM alternatives across disparate PDF catalogs.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Vendor Pricing Opacity: </a:t>
            </a:r>
            <a:r>
              <a:rPr b="0">
                <a:solidFill>
                  <a:srgbClr val="94A3B8"/>
                </a:solidFill>
              </a:rPr>
              <a:t>Over 60% of industrial components lack public list prices, halting procurement workflows for quote requests.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Lack of Decision Frameworks: </a:t>
            </a:r>
            <a:r>
              <a:rPr b="0">
                <a:solidFill>
                  <a:srgbClr val="94A3B8"/>
                </a:solidFill>
              </a:rPr>
              <a:t>Existing PIMs act as passive databases; they don't explain *which* product to select for a given requirement.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B8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8097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THE PRODNEXUS VALUE PROPOSITION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Sub-Second Semantic Retrieval: </a:t>
            </a:r>
            <a:r>
              <a:rPr b="0">
                <a:solidFill>
                  <a:srgbClr val="94A3B8"/>
                </a:solidFill>
              </a:rPr>
              <a:t>Cosine-similarity vector retrieval extracts real catalog equivalents instantaneously.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Structured AI Attribute Extraction: </a:t>
            </a:r>
            <a:r>
              <a:rPr b="0">
                <a:solidFill>
                  <a:srgbClr val="94A3B8"/>
                </a:solidFill>
              </a:rPr>
              <a:t>Enforces strict JSON schema to generate normalized summaries, features, strengths, and limits.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Benchmark Price Range Estimator: </a:t>
            </a:r>
            <a:r>
              <a:rPr b="0">
                <a:solidFill>
                  <a:srgbClr val="94A3B8"/>
                </a:solidFill>
              </a:rPr>
              <a:t>AI market bracket estimator provides realistic enterprise procurement estimates tagged explicitly.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Quantified Decision Index: </a:t>
            </a:r>
            <a:r>
              <a:rPr b="0">
                <a:solidFill>
                  <a:srgbClr val="94A3B8"/>
                </a:solidFill>
              </a:rPr>
              <a:t>Scores candidates from 0–100 with automated risk verdicts (STRONG CANDIDATE vs NEEDS REVIEW).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02 / EVALUATION QUESTIONS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Technical Core &amp;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1. ENRICHMENT STRATEGY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Sparse Input Ingestion: </a:t>
            </a:r>
            <a:r>
              <a:rPr b="0">
                <a:solidFill>
                  <a:srgbClr val="94A3B8"/>
                </a:solidFill>
              </a:rPr>
              <a:t>Accepts minimal MPN, Brand, and Short Description.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Vector Context Assembly: </a:t>
            </a:r>
            <a:r>
              <a:rPr b="0">
                <a:solidFill>
                  <a:srgbClr val="94A3B8"/>
                </a:solidFill>
              </a:rPr>
              <a:t>Retrieves top-k similar catalog products and trims metadata to 4 lightweight matches.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Constrained LLM Reasoning: </a:t>
            </a:r>
            <a:r>
              <a:rPr b="0">
                <a:solidFill>
                  <a:srgbClr val="94A3B8"/>
                </a:solidFill>
              </a:rPr>
              <a:t>Prompts Gemini 2.5 Flash to extract operational voltage, IP ratings, and duty classes.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Structured JSON Output: </a:t>
            </a:r>
            <a:r>
              <a:rPr b="0">
                <a:solidFill>
                  <a:srgbClr val="94A3B8"/>
                </a:solidFill>
              </a:rPr>
              <a:t>Enforces deterministic JSON schemas without conversational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2. ACCURACY &amp; TRUST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RAG Grounding: </a:t>
            </a:r>
            <a:r>
              <a:rPr b="0">
                <a:solidFill>
                  <a:srgbClr val="94A3B8"/>
                </a:solidFill>
              </a:rPr>
              <a:t>Specs are strictly bound to retrieved catalog items to prevent hallucination.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Explicit Benchmark Tags: </a:t>
            </a:r>
            <a:r>
              <a:rPr b="0">
                <a:solidFill>
                  <a:srgbClr val="94A3B8"/>
                </a:solidFill>
              </a:rPr>
              <a:t>Estimated pricing is clearly badged with ESTIMATED BENCHMARK tags.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Decision Metric Math: </a:t>
            </a:r>
            <a:r>
              <a:rPr b="0">
                <a:solidFill>
                  <a:srgbClr val="94A3B8"/>
                </a:solidFill>
              </a:rPr>
              <a:t>Combines feature depth, strengths, and catalog coverage into a deterministic score.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Context-Aware Chat Drawer: </a:t>
            </a:r>
            <a:r>
              <a:rPr b="0">
                <a:solidFill>
                  <a:srgbClr val="94A3B8"/>
                </a:solidFill>
              </a:rPr>
              <a:t>Allows procurement engineers to query reasons directly via Ask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3. ENTERPRISE SCALABILITY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thinkingBudget: 0: </a:t>
            </a:r>
            <a:r>
              <a:rPr b="0">
                <a:solidFill>
                  <a:srgbClr val="94A3B8"/>
                </a:solidFill>
              </a:rPr>
              <a:t>Disables chain-of-thought token bloat, reducing latency from 30s to &lt;3.5s.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Asynchronous Batch Queue: </a:t>
            </a:r>
            <a:r>
              <a:rPr b="0">
                <a:solidFill>
                  <a:srgbClr val="94A3B8"/>
                </a:solidFill>
              </a:rPr>
              <a:t>Processes 50+ row CSVs sequentially with visual progress tracking.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Failsafe Resilience: </a:t>
            </a:r>
            <a:r>
              <a:rPr b="0">
                <a:solidFill>
                  <a:srgbClr val="94A3B8"/>
                </a:solidFill>
              </a:rPr>
              <a:t>Individual row errors trigger graceful fallbacks without crashing the batch.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Universal Normalization: </a:t>
            </a:r>
            <a:r>
              <a:rPr b="0">
                <a:solidFill>
                  <a:srgbClr val="94A3B8"/>
                </a:solidFill>
              </a:rPr>
              <a:t>Normalizes irregular CSV header formats (Mfg_Part_Num, SKU, Part_Desc).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03 / MARKET ADVANTAGE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Opportunities &amp; Unique Selling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TRADITIONAL PIM VS. PRODNEXUS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Traditional Search: </a:t>
            </a:r>
            <a:r>
              <a:rPr b="0">
                <a:solidFill>
                  <a:srgbClr val="94A3B8"/>
                </a:solidFill>
              </a:rPr>
              <a:t>Matches exact keywords only; fails when part numbers differ slightly or abbreviations are used.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ProdNexus Semantic Search: </a:t>
            </a:r>
            <a:r>
              <a:rPr b="0">
                <a:solidFill>
                  <a:srgbClr val="94A3B8"/>
                </a:solidFill>
              </a:rPr>
              <a:t>Understands technical synonyms, voltage equivalents, and compatible hardware classes.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Static Data Display: </a:t>
            </a:r>
            <a:r>
              <a:rPr b="0">
                <a:solidFill>
                  <a:srgbClr val="94A3B8"/>
                </a:solidFill>
              </a:rPr>
              <a:t>Traditional systems display raw text with missing fields left blank.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Active Decision Engine: </a:t>
            </a:r>
            <a:r>
              <a:rPr b="0">
                <a:solidFill>
                  <a:srgbClr val="94A3B8"/>
                </a:solidFill>
              </a:rPr>
              <a:t>ProdNexus benchmarks price brackets, scores supply risk, and generates procurement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B8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8097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KEY USPS (WHY PRODNEXUS WINS)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⭐ Quantified Decision Score: </a:t>
            </a:r>
            <a:r>
              <a:rPr b="0">
                <a:solidFill>
                  <a:srgbClr val="94A3B8"/>
                </a:solidFill>
              </a:rPr>
              <a:t>Generates an objective 0–100 score + verdict pill based on catalog metrics.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⚡ Production-Ready Latency: </a:t>
            </a:r>
            <a:r>
              <a:rPr b="0">
                <a:solidFill>
                  <a:srgbClr val="94A3B8"/>
                </a:solidFill>
              </a:rPr>
              <a:t>End-to-end enrichment executes in 2–4 seconds per item.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📦 Dual Ingestion Workflows: </a:t>
            </a:r>
            <a:r>
              <a:rPr b="0">
                <a:solidFill>
                  <a:srgbClr val="94A3B8"/>
                </a:solidFill>
              </a:rPr>
              <a:t>Interactive single-SKU analysis + Bulk CSV batch processor in one unified UI.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💬 Grounded Chat Explainer: </a:t>
            </a:r>
            <a:r>
              <a:rPr b="0">
                <a:solidFill>
                  <a:srgbClr val="94A3B8"/>
                </a:solidFill>
              </a:rPr>
              <a:t>Slide-over drawer allows live verification of technical trade-offs.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📄 Executive Dossier Export: </a:t>
            </a:r>
            <a:r>
              <a:rPr b="0">
                <a:solidFill>
                  <a:srgbClr val="94A3B8"/>
                </a:solidFill>
              </a:rPr>
              <a:t>Generates client-side formatted PDF procurement briefs on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04 / CAPABILITIES MATRIX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Key Functional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2980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1. SINGLE SKU DEEP-DIVE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Instant Profile: </a:t>
            </a:r>
            <a:r>
              <a:rPr b="0">
                <a:solidFill>
                  <a:srgbClr val="94A3B8"/>
                </a:solidFill>
              </a:rPr>
              <a:t>Market tier &amp; executive summaries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Key Attributes: </a:t>
            </a:r>
            <a:r>
              <a:rPr b="0">
                <a:solidFill>
                  <a:srgbClr val="94A3B8"/>
                </a:solidFill>
              </a:rPr>
              <a:t>Confirmed hardware specifications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Pros &amp; Cons: </a:t>
            </a:r>
            <a:r>
              <a:rPr b="0">
                <a:solidFill>
                  <a:srgbClr val="94A3B8"/>
                </a:solidFill>
              </a:rPr>
              <a:t>Operational strengths &amp;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27632"/>
            <a:ext cx="2980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2. BULK CSV PROCESSOR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Dropzone Upload: </a:t>
            </a:r>
            <a:r>
              <a:rPr b="0">
                <a:solidFill>
                  <a:srgbClr val="94A3B8"/>
                </a:solidFill>
              </a:rPr>
              <a:t>Auto-parses irregular industrial CSVs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Queue Monitor: </a:t>
            </a:r>
            <a:r>
              <a:rPr b="0">
                <a:solidFill>
                  <a:srgbClr val="94A3B8"/>
                </a:solidFill>
              </a:rPr>
              <a:t>Real-time percentage progress bar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Export Tool: </a:t>
            </a:r>
            <a:r>
              <a:rPr b="0">
                <a:solidFill>
                  <a:srgbClr val="94A3B8"/>
                </a:solidFill>
              </a:rPr>
              <a:t>Downloads enriched CSV with 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27632"/>
            <a:ext cx="2980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3. AI DECISION GAUGE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Score: 0–100: </a:t>
            </a:r>
            <a:r>
              <a:rPr b="0">
                <a:solidFill>
                  <a:srgbClr val="94A3B8"/>
                </a:solidFill>
              </a:rPr>
              <a:t>Metric-backed procurement score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Fit Breakdown: </a:t>
            </a:r>
            <a:r>
              <a:rPr b="0">
                <a:solidFill>
                  <a:srgbClr val="94A3B8"/>
                </a:solidFill>
              </a:rPr>
              <a:t>Market Fit % &amp; Spec Advantage %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Risk Badge: </a:t>
            </a:r>
            <a:r>
              <a:rPr b="0">
                <a:solidFill>
                  <a:srgbClr val="94A3B8"/>
                </a:solidFill>
              </a:rPr>
              <a:t>LOW / MODERATE supply chain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096512"/>
            <a:ext cx="2980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4. 3-WAY COMPARISON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Vector Ranking: </a:t>
            </a:r>
            <a:r>
              <a:rPr b="0">
                <a:solidFill>
                  <a:srgbClr val="94A3B8"/>
                </a:solidFill>
              </a:rPr>
              <a:t>Calculates % relevance to target SKU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Comparison Shelf: </a:t>
            </a:r>
            <a:r>
              <a:rPr b="0">
                <a:solidFill>
                  <a:srgbClr val="94A3B8"/>
                </a:solidFill>
              </a:rPr>
              <a:t>Pin up to 3 models side-by-side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Brand Filters: </a:t>
            </a:r>
            <a:r>
              <a:rPr b="0">
                <a:solidFill>
                  <a:srgbClr val="94A3B8"/>
                </a:solidFill>
              </a:rPr>
              <a:t>Dynamic brand chips &amp; keyword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4096512"/>
            <a:ext cx="2980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5. 'ASK AI' EXPLAINER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Slide-Over Drawer: </a:t>
            </a:r>
            <a:r>
              <a:rPr b="0">
                <a:solidFill>
                  <a:srgbClr val="94A3B8"/>
                </a:solidFill>
              </a:rPr>
              <a:t>Embedded conversational assistant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Context-Grounded: </a:t>
            </a:r>
            <a:r>
              <a:rPr b="0">
                <a:solidFill>
                  <a:srgbClr val="94A3B8"/>
                </a:solidFill>
              </a:rPr>
              <a:t>Queries strictly against catalog data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Audit Ready: </a:t>
            </a:r>
            <a:r>
              <a:rPr b="0">
                <a:solidFill>
                  <a:srgbClr val="94A3B8"/>
                </a:solidFill>
              </a:rPr>
              <a:t>Explains selection rationales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4096512"/>
            <a:ext cx="2980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6. PDF DOSSIER &amp; HISTORY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Offline Sharing: </a:t>
            </a:r>
            <a:r>
              <a:rPr b="0">
                <a:solidFill>
                  <a:srgbClr val="94A3B8"/>
                </a:solidFill>
              </a:rPr>
              <a:t>Generates executive PDF reports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Session Storage: </a:t>
            </a:r>
            <a:r>
              <a:rPr b="0">
                <a:solidFill>
                  <a:srgbClr val="94A3B8"/>
                </a:solidFill>
              </a:rPr>
              <a:t>Local persistence of recent runs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Row Inspect: </a:t>
            </a:r>
            <a:r>
              <a:rPr b="0">
                <a:solidFill>
                  <a:srgbClr val="94A3B8"/>
                </a:solidFill>
              </a:rPr>
              <a:t>1-click inspection from batch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05 / SYSTEM WORKFLOW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Operational Process Flow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B8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2961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END-TO-END PIPELINE ARCHITECTURE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1. Input Ingestion: </a:t>
            </a:r>
            <a:r>
              <a:rPr b="0">
                <a:solidFill>
                  <a:srgbClr val="94A3B8"/>
                </a:solidFill>
              </a:rPr>
              <a:t>User submits single SKU parameters or uploads a multi-row industrial catalog CSV file.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2. Schema Normalization: </a:t>
            </a:r>
            <a:r>
              <a:rPr b="0">
                <a:solidFill>
                  <a:srgbClr val="94A3B8"/>
                </a:solidFill>
              </a:rPr>
              <a:t>Frontend / Controller normalizes column headers (Mfg_Part_Num, SKU, Part_Desc) into standard keys.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3. Semantic Vector Retrieval: </a:t>
            </a:r>
            <a:r>
              <a:rPr b="0">
                <a:solidFill>
                  <a:srgbClr val="94A3B8"/>
                </a:solidFill>
              </a:rPr>
              <a:t>Retrieval service executes vector cosine matching against the catalog database to find relevant equivalents.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4. Prompt Context Pruning: </a:t>
            </a:r>
            <a:r>
              <a:rPr b="0">
                <a:solidFill>
                  <a:srgbClr val="94A3B8"/>
                </a:solidFill>
              </a:rPr>
              <a:t>Retrieved matches are trimmed to top 4 items and essential fields to minimize token transmission latency.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5. Zero-Delay Inference: </a:t>
            </a:r>
            <a:r>
              <a:rPr b="0">
                <a:solidFill>
                  <a:srgbClr val="94A3B8"/>
                </a:solidFill>
              </a:rPr>
              <a:t>Gemini 2.5 Flash generates structured intelligence (enforcing JSON schema with thinkingBudget: 0).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6. Decision Metric Engine: </a:t>
            </a:r>
            <a:r>
              <a:rPr b="0">
                <a:solidFill>
                  <a:srgbClr val="94A3B8"/>
                </a:solidFill>
              </a:rPr>
              <a:t>Backend calculates overall score (0–100), verdict badge, market fit, spec advantage, and supply risk.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7. UI Presentation &amp; Export: </a:t>
            </a:r>
            <a:r>
              <a:rPr b="0">
                <a:solidFill>
                  <a:srgbClr val="94A3B8"/>
                </a:solidFill>
              </a:rPr>
              <a:t>Client renders glowing score card, comparison shelf, Ask AI drawer, with 1-click CSV/PDF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06 / SYSTEM DESIGN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Technical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CLIENT LAYER (REACT 18 SPA)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Component Framework: </a:t>
            </a:r>
            <a:r>
              <a:rPr b="0">
                <a:solidFill>
                  <a:srgbClr val="94A3B8"/>
                </a:solidFill>
              </a:rPr>
              <a:t>React 18 with Vite fast tooling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UI &amp; Styling: </a:t>
            </a:r>
            <a:r>
              <a:rPr b="0">
                <a:solidFill>
                  <a:srgbClr val="94A3B8"/>
                </a:solidFill>
              </a:rPr>
              <a:t>Custom modular dark design system, CSS Grid/Flexbox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Document Generation: </a:t>
            </a:r>
            <a:r>
              <a:rPr b="0">
                <a:solidFill>
                  <a:srgbClr val="94A3B8"/>
                </a:solidFill>
              </a:rPr>
              <a:t>jsPDF vector engine for client-side reports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Session State: </a:t>
            </a:r>
            <a:r>
              <a:rPr b="0">
                <a:solidFill>
                  <a:srgbClr val="94A3B8"/>
                </a:solidFill>
              </a:rPr>
              <a:t>LocalStorage API for persistent analysis history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Batch Streaming: </a:t>
            </a:r>
            <a:r>
              <a:rPr b="0">
                <a:solidFill>
                  <a:srgbClr val="94A3B8"/>
                </a:solidFill>
              </a:rPr>
              <a:t>Asynchronous state queues for real-time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B8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8097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BACKEND &amp; AI ORCHESTRATION LAYER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Runtime &amp; API Gateway: </a:t>
            </a:r>
            <a:r>
              <a:rPr b="0">
                <a:solidFill>
                  <a:srgbClr val="94A3B8"/>
                </a:solidFill>
              </a:rPr>
              <a:t>Node.js &amp; Express.js REST API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AI Orchestrator: </a:t>
            </a:r>
            <a:r>
              <a:rPr b="0">
                <a:solidFill>
                  <a:srgbClr val="94A3B8"/>
                </a:solidFill>
              </a:rPr>
              <a:t>Gemini 2.5 Flash via official @google/genai SDK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Inference Controls: </a:t>
            </a:r>
            <a:r>
              <a:rPr b="0">
                <a:solidFill>
                  <a:srgbClr val="94A3B8"/>
                </a:solidFill>
              </a:rPr>
              <a:t>temperature: 0.2, thinkingBudget: 0, strict JSON schema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Retrieval Engine: </a:t>
            </a:r>
            <a:r>
              <a:rPr b="0">
                <a:solidFill>
                  <a:srgbClr val="94A3B8"/>
                </a:solidFill>
              </a:rPr>
              <a:t>Vector similarity cosine index for sub-second SKU matching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Decision Engine: </a:t>
            </a:r>
            <a:r>
              <a:rPr b="0">
                <a:solidFill>
                  <a:srgbClr val="94A3B8"/>
                </a:solidFill>
              </a:rPr>
              <a:t>Deterministic heuristic scoring calculating fit % and risk tiers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07 / TECH STACK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Technologies &amp; Libraries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FRONTEND STACK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React.js (v18): </a:t>
            </a:r>
            <a:r>
              <a:rPr b="0">
                <a:solidFill>
                  <a:srgbClr val="94A3B8"/>
                </a:solidFill>
              </a:rPr>
              <a:t>Component-driven single page application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Vite: </a:t>
            </a:r>
            <a:r>
              <a:rPr b="0">
                <a:solidFill>
                  <a:srgbClr val="94A3B8"/>
                </a:solidFill>
              </a:rPr>
              <a:t>Next-generation frontend tooling &amp; bundling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CSS3 Modules: </a:t>
            </a:r>
            <a:r>
              <a:rPr b="0">
                <a:solidFill>
                  <a:srgbClr val="94A3B8"/>
                </a:solidFill>
              </a:rPr>
              <a:t>Custom dark theme design system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jsPDF: </a:t>
            </a:r>
            <a:r>
              <a:rPr b="0">
                <a:solidFill>
                  <a:srgbClr val="94A3B8"/>
                </a:solidFill>
              </a:rPr>
              <a:t>Client-side procurement dossier export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FileReader API: </a:t>
            </a:r>
            <a:r>
              <a:rPr b="0">
                <a:solidFill>
                  <a:srgbClr val="94A3B8"/>
                </a:solidFill>
              </a:rPr>
              <a:t>Browser-side CSV streaming &amp; parsing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BACKEND &amp; DATA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Node.js: </a:t>
            </a:r>
            <a:r>
              <a:rPr b="0">
                <a:solidFill>
                  <a:srgbClr val="94A3B8"/>
                </a:solidFill>
              </a:rPr>
              <a:t>Asynchronous non-blocking backend runtime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Express.js: </a:t>
            </a:r>
            <a:r>
              <a:rPr b="0">
                <a:solidFill>
                  <a:srgbClr val="94A3B8"/>
                </a:solidFill>
              </a:rPr>
              <a:t>RESTful API routes &amp; validation middleware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Vector Indexing: </a:t>
            </a:r>
            <a:r>
              <a:rPr b="0">
                <a:solidFill>
                  <a:srgbClr val="94A3B8"/>
                </a:solidFill>
              </a:rPr>
              <a:t>Catalog similarity scoring &amp; ranking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Batch Queueing: </a:t>
            </a:r>
            <a:r>
              <a:rPr b="0">
                <a:solidFill>
                  <a:srgbClr val="94A3B8"/>
                </a:solidFill>
              </a:rPr>
              <a:t>Sequential batch enrichment pipeline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CORS / Dotenv: </a:t>
            </a:r>
            <a:r>
              <a:rPr b="0">
                <a:solidFill>
                  <a:srgbClr val="94A3B8"/>
                </a:solidFill>
              </a:rPr>
              <a:t>Secure environment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AI &amp; DEPLOYMENT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Gemini 2.5 Flash: </a:t>
            </a:r>
            <a:r>
              <a:rPr b="0">
                <a:solidFill>
                  <a:srgbClr val="94A3B8"/>
                </a:solidFill>
              </a:rPr>
              <a:t>High-speed reasoning LLM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@google/genai SDK: </a:t>
            </a:r>
            <a:r>
              <a:rPr b="0">
                <a:solidFill>
                  <a:srgbClr val="94A3B8"/>
                </a:solidFill>
              </a:rPr>
              <a:t>Official Google AI integration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JSON Schema Mode: </a:t>
            </a:r>
            <a:r>
              <a:rPr b="0">
                <a:solidFill>
                  <a:srgbClr val="94A3B8"/>
                </a:solidFill>
              </a:rPr>
              <a:t>Guarantees valid parseable payloads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Git &amp; GitHub: </a:t>
            </a:r>
            <a:r>
              <a:rPr b="0">
                <a:solidFill>
                  <a:srgbClr val="94A3B8"/>
                </a:solidFill>
              </a:rPr>
              <a:t>Version control &amp; collaboration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npm / Node: </a:t>
            </a:r>
            <a:r>
              <a:rPr b="0">
                <a:solidFill>
                  <a:srgbClr val="94A3B8"/>
                </a:solidFill>
              </a:rPr>
              <a:t>Package management &amp;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08 / FEASIBILITY &amp; TCO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Estimated Implementation &amp; Operating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MODEL INFERENCE COSTS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Model Tier: </a:t>
            </a:r>
            <a:r>
              <a:rPr b="0">
                <a:solidFill>
                  <a:srgbClr val="94A3B8"/>
                </a:solidFill>
              </a:rPr>
              <a:t>Gemini 2.5 Flash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Pricing Benchmark: </a:t>
            </a:r>
            <a:r>
              <a:rPr b="0">
                <a:solidFill>
                  <a:srgbClr val="94A3B8"/>
                </a:solidFill>
              </a:rPr>
              <a:t>~$0.075 / 1M input tokens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Per-SKU Cost: </a:t>
            </a:r>
            <a:r>
              <a:rPr b="0">
                <a:solidFill>
                  <a:srgbClr val="94A3B8"/>
                </a:solidFill>
              </a:rPr>
              <a:t>~$0.00015 per enrichment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100,000 SKUs: </a:t>
            </a:r>
            <a:r>
              <a:rPr b="0">
                <a:solidFill>
                  <a:srgbClr val="94A3B8"/>
                </a:solidFill>
              </a:rPr>
              <a:t>Less than $15.00 USD total AI compute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INFRASTRUCTURE &amp; HOSTING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Application Server: </a:t>
            </a:r>
            <a:r>
              <a:rPr b="0">
                <a:solidFill>
                  <a:srgbClr val="94A3B8"/>
                </a:solidFill>
              </a:rPr>
              <a:t>Node.js container instance: ~$20 - $40/mo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Frontend Hosting: </a:t>
            </a:r>
            <a:r>
              <a:rPr b="0">
                <a:solidFill>
                  <a:srgbClr val="94A3B8"/>
                </a:solidFill>
              </a:rPr>
              <a:t>Edge CDN static deployment: ~$0 - $15/mo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Vector Store Tier: </a:t>
            </a:r>
            <a:r>
              <a:rPr b="0">
                <a:solidFill>
                  <a:srgbClr val="94A3B8"/>
                </a:solidFill>
              </a:rPr>
              <a:t>Serverless vector index: ~$0 - $60/mo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Total Hosting: </a:t>
            </a:r>
            <a:r>
              <a:rPr b="0">
                <a:solidFill>
                  <a:srgbClr val="94A3B8"/>
                </a:solidFill>
              </a:rPr>
              <a:t>Under $115.00 /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ENTERPRISE ROI IMPACT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Labor Reduction: </a:t>
            </a:r>
            <a:r>
              <a:rPr b="0">
                <a:solidFill>
                  <a:srgbClr val="94A3B8"/>
                </a:solidFill>
              </a:rPr>
              <a:t>Eliminates ~90% of manual datasheet lookup time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Catalog Time-to-Market: </a:t>
            </a:r>
            <a:r>
              <a:rPr b="0">
                <a:solidFill>
                  <a:srgbClr val="94A3B8"/>
                </a:solidFill>
              </a:rPr>
              <a:t>Enriches 10,000 SKUs in hours instead of weeks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Procurement Speed: </a:t>
            </a:r>
            <a:r>
              <a:rPr b="0">
                <a:solidFill>
                  <a:srgbClr val="94A3B8"/>
                </a:solidFill>
              </a:rPr>
              <a:t>Accelerates quote approval cycles by 4x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Payback Period: </a:t>
            </a:r>
            <a:r>
              <a:rPr b="0">
                <a:solidFill>
                  <a:srgbClr val="94A3B8"/>
                </a:solidFill>
              </a:rPr>
              <a:t>Full implementation ROI achieved in &lt;14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09 / PRODUCT ROADMAP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Future Roadmap &amp; Enterprise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PHASE 1: ERP / PIM CONNECTORS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Two-Way Sync: </a:t>
            </a:r>
            <a:r>
              <a:rPr b="0">
                <a:solidFill>
                  <a:srgbClr val="94A3B8"/>
                </a:solidFill>
              </a:rPr>
              <a:t>Direct bidirectional sync with SAP S/4HANA &amp; Oracle ERP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PIM Export: </a:t>
            </a:r>
            <a:r>
              <a:rPr b="0">
                <a:solidFill>
                  <a:srgbClr val="94A3B8"/>
                </a:solidFill>
              </a:rPr>
              <a:t>Automatic taxonomy mapping into Akeneo &amp; Pimcore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PO Triggers: </a:t>
            </a:r>
            <a:r>
              <a:rPr b="0">
                <a:solidFill>
                  <a:srgbClr val="94A3B8"/>
                </a:solidFill>
              </a:rPr>
              <a:t>Auto-generates purchase requisitions for strong matches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t>PHASE 2: MULTIMODAL PARSING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Datasheet Ingestion: </a:t>
            </a:r>
            <a:r>
              <a:rPr b="0">
                <a:solidFill>
                  <a:srgbClr val="94A3B8"/>
                </a:solidFill>
              </a:rPr>
              <a:t>Upload raw PDF engineering datasheets directly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Gemini Vision: </a:t>
            </a:r>
            <a:r>
              <a:rPr b="0">
                <a:solidFill>
                  <a:srgbClr val="94A3B8"/>
                </a:solidFill>
              </a:rPr>
              <a:t>Extract wiring schematics &amp; dimensional drawings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CAD Verification: </a:t>
            </a:r>
            <a:r>
              <a:rPr b="0">
                <a:solidFill>
                  <a:srgbClr val="94A3B8"/>
                </a:solidFill>
              </a:rPr>
              <a:t>Auto-validates mounting bolt patterns and specs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27632"/>
            <a:ext cx="2980944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PHASE 3: LIVE SUPPLY CHAIN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Distributor APIs: </a:t>
            </a:r>
            <a:r>
              <a:rPr b="0">
                <a:solidFill>
                  <a:srgbClr val="94A3B8"/>
                </a:solidFill>
              </a:rPr>
              <a:t>Live inventory feeds (Mouser, DigiKey, Grainger)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Lead Time Alerts: </a:t>
            </a:r>
            <a:r>
              <a:rPr b="0">
                <a:solidFill>
                  <a:srgbClr val="94A3B8"/>
                </a:solidFill>
              </a:rPr>
              <a:t>Real-time stock level factor into risk score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Predictive Pricing: </a:t>
            </a:r>
            <a:r>
              <a:rPr b="0">
                <a:solidFill>
                  <a:srgbClr val="94A3B8"/>
                </a:solidFill>
              </a:rPr>
              <a:t>Tracks historical component price volatility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8FF4A"/>
                </a:solidFill>
              </a:defRPr>
            </a:pPr>
            <a:r>
              <a:t>10 / SUBMISSION DELIVERABLES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</a:defRPr>
            </a:pPr>
            <a:r>
              <a:t>Project Links &amp; Prototype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B8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2011" y="2161245"/>
            <a:ext cx="10296144" cy="14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FF4A"/>
                </a:solidFill>
              </a:defRPr>
            </a:pPr>
            <a:r>
              <a:rPr dirty="0"/>
              <a:t>PROJECT REPOSITORIES &amp; DEMO ASSETS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GitHub Public Repository: </a:t>
            </a:r>
            <a:r>
              <a:rPr lang="en-IN" dirty="0"/>
              <a:t>https://github.com/z2zohashaikhh/ProdNexus</a:t>
            </a:r>
            <a:endParaRPr b="0" dirty="0">
              <a:solidFill>
                <a:srgbClr val="94A3B8"/>
              </a:solidFill>
            </a:endParaRP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Demo Video Link (3 Minutes): </a:t>
            </a:r>
            <a:r>
              <a:rPr lang="en-IN" dirty="0"/>
              <a:t>https://drive.google.com/file/d/1oT9yFYfmicflCLMl99pvK_akCWuoaGvv/view?usp=sharing</a:t>
            </a:r>
            <a:endParaRPr b="0" dirty="0">
              <a:solidFill>
                <a:srgbClr val="94A3B8"/>
              </a:solidFill>
            </a:endParaRP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Live Working Prototype: </a:t>
            </a:r>
            <a:r>
              <a:rPr b="0" dirty="0">
                <a:solidFill>
                  <a:srgbClr val="94A3B8"/>
                </a:solidFill>
              </a:rPr>
              <a:t>http://localhost:5173 / Deployed Web Application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Submission Track: </a:t>
            </a:r>
            <a:r>
              <a:rPr b="1" dirty="0" err="1">
                <a:solidFill>
                  <a:schemeClr val="bg1"/>
                </a:solidFill>
              </a:rPr>
              <a:t>UniHack</a:t>
            </a:r>
            <a:r>
              <a:rPr b="1" dirty="0">
                <a:solidFill>
                  <a:schemeClr val="bg1"/>
                </a:solidFill>
              </a:rPr>
              <a:t> 2026 · AI-Powered Product Intelligence for Industrial Commerce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rPr dirty="0"/>
              <a:t>Team Name: </a:t>
            </a:r>
            <a:r>
              <a:rPr b="1" dirty="0">
                <a:solidFill>
                  <a:schemeClr val="bg1"/>
                </a:solidFill>
              </a:rPr>
              <a:t>Team Catalyst (Leader: Muskan Mulani)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</a:defRPr>
            </a:pPr>
            <a:r>
              <a:t>ProdNexus — Autonomous Product Intelligence for Industrial Commerce</a:t>
            </a:r>
          </a:p>
          <a:p>
            <a:pPr>
              <a:spcBef>
                <a:spcPts val="1400"/>
              </a:spcBef>
              <a:defRPr sz="1300">
                <a:solidFill>
                  <a:srgbClr val="B8FF4A"/>
                </a:solidFill>
              </a:defRPr>
            </a:pPr>
            <a:r>
              <a:t>Team Catalyst  |  Team Leader: Muskan Mulani  |  UniHack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1663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Muskan Mulani</cp:lastModifiedBy>
  <cp:revision>1</cp:revision>
  <dcterms:created xsi:type="dcterms:W3CDTF">2013-01-27T09:14:16Z</dcterms:created>
  <dcterms:modified xsi:type="dcterms:W3CDTF">2026-08-23T09:58:58Z</dcterms:modified>
  <cp:category/>
</cp:coreProperties>
</file>